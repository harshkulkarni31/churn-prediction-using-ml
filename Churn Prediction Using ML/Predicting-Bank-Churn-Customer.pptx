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Fraunces Medium"/>
      <p:regular r:id="rId15"/>
    </p:embeddedFont>
    <p:embeddedFont>
      <p:font typeface="Fraunces Medium"/>
      <p:regular r:id="rId16"/>
    </p:embeddedFont>
    <p:embeddedFont>
      <p:font typeface="Fraunces Medium"/>
      <p:regular r:id="rId17"/>
    </p:embeddedFont>
    <p:embeddedFont>
      <p:font typeface="Fraunces Medium"/>
      <p:regular r:id="rId18"/>
    </p:embeddedFont>
    <p:embeddedFont>
      <p:font typeface="Epilogue"/>
      <p:regular r:id="rId19"/>
    </p:embeddedFont>
    <p:embeddedFont>
      <p:font typeface="Epilogue"/>
      <p:regular r:id="rId20"/>
    </p:embeddedFont>
    <p:embeddedFont>
      <p:font typeface="Epilogue"/>
      <p:regular r:id="rId21"/>
    </p:embeddedFont>
    <p:embeddedFont>
      <p:font typeface="Epilogu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91527"/>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Predicting Bank Churn Customer</a:t>
            </a:r>
            <a:endParaRPr lang="en-US" sz="4450" dirty="0"/>
          </a:p>
        </p:txBody>
      </p:sp>
      <p:sp>
        <p:nvSpPr>
          <p:cNvPr id="4" name="Text 1"/>
          <p:cNvSpPr/>
          <p:nvPr/>
        </p:nvSpPr>
        <p:spPr>
          <a:xfrm>
            <a:off x="793790" y="4449247"/>
            <a:ext cx="7556421" cy="1088708"/>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This presentation explores a project predicting bank customer churn using Recurrent Neural Networks (RNN) and optimizing credit card allowance using Artificial Neural Networks (ANN).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66962"/>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Understanding Bank Churn and Credit Risk: The Business Problem</a:t>
            </a:r>
            <a:endParaRPr lang="en-US" sz="4450" dirty="0"/>
          </a:p>
        </p:txBody>
      </p:sp>
      <p:sp>
        <p:nvSpPr>
          <p:cNvPr id="3" name="Text 1"/>
          <p:cNvSpPr/>
          <p:nvPr/>
        </p:nvSpPr>
        <p:spPr>
          <a:xfrm>
            <a:off x="793790" y="4351496"/>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Bank Churn</a:t>
            </a:r>
            <a:endParaRPr lang="en-US" sz="2200" dirty="0"/>
          </a:p>
        </p:txBody>
      </p:sp>
      <p:sp>
        <p:nvSpPr>
          <p:cNvPr id="4" name="Text 2"/>
          <p:cNvSpPr/>
          <p:nvPr/>
        </p:nvSpPr>
        <p:spPr>
          <a:xfrm>
            <a:off x="793790" y="4932640"/>
            <a:ext cx="6244709"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The loss of customers due to dissatisfaction, competition, or other factors.</a:t>
            </a:r>
            <a:endParaRPr lang="en-US" sz="1750" dirty="0"/>
          </a:p>
        </p:txBody>
      </p:sp>
      <p:sp>
        <p:nvSpPr>
          <p:cNvPr id="5" name="Text 3"/>
          <p:cNvSpPr/>
          <p:nvPr/>
        </p:nvSpPr>
        <p:spPr>
          <a:xfrm>
            <a:off x="7599521" y="4351496"/>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Credit Risk</a:t>
            </a:r>
            <a:endParaRPr lang="en-US" sz="2200" dirty="0"/>
          </a:p>
        </p:txBody>
      </p:sp>
      <p:sp>
        <p:nvSpPr>
          <p:cNvPr id="6" name="Text 4"/>
          <p:cNvSpPr/>
          <p:nvPr/>
        </p:nvSpPr>
        <p:spPr>
          <a:xfrm>
            <a:off x="7599521" y="4932640"/>
            <a:ext cx="6244709"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The likelihood that a borrower will not repay their debts as agreed.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96710"/>
            <a:ext cx="7556421" cy="2126337"/>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Data Overview &amp; Feature Engineering: Preparing for Modeling</a:t>
            </a:r>
            <a:endParaRPr lang="en-US" sz="4450" dirty="0"/>
          </a:p>
        </p:txBody>
      </p:sp>
      <p:sp>
        <p:nvSpPr>
          <p:cNvPr id="4" name="Shape 1"/>
          <p:cNvSpPr/>
          <p:nvPr/>
        </p:nvSpPr>
        <p:spPr>
          <a:xfrm>
            <a:off x="793790" y="4018359"/>
            <a:ext cx="396835" cy="396835"/>
          </a:xfrm>
          <a:prstGeom prst="roundRect">
            <a:avLst>
              <a:gd name="adj" fmla="val 24007"/>
            </a:avLst>
          </a:prstGeom>
          <a:solidFill>
            <a:srgbClr val="283157"/>
          </a:solidFill>
          <a:ln w="7620">
            <a:solidFill>
              <a:srgbClr val="414A70"/>
            </a:solidFill>
            <a:prstDash val="solid"/>
          </a:ln>
        </p:spPr>
      </p:sp>
      <p:sp>
        <p:nvSpPr>
          <p:cNvPr id="5" name="Text 2"/>
          <p:cNvSpPr/>
          <p:nvPr/>
        </p:nvSpPr>
        <p:spPr>
          <a:xfrm>
            <a:off x="1417439" y="4018359"/>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Dataset</a:t>
            </a:r>
            <a:endParaRPr lang="en-US" sz="2200" dirty="0"/>
          </a:p>
        </p:txBody>
      </p:sp>
      <p:sp>
        <p:nvSpPr>
          <p:cNvPr id="6" name="Text 3"/>
          <p:cNvSpPr/>
          <p:nvPr/>
        </p:nvSpPr>
        <p:spPr>
          <a:xfrm>
            <a:off x="1417439" y="4508778"/>
            <a:ext cx="6932771"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Collected from a financial institution, including customer demographics, transaction history, and account information.</a:t>
            </a:r>
            <a:endParaRPr lang="en-US" sz="1750" dirty="0"/>
          </a:p>
        </p:txBody>
      </p:sp>
      <p:sp>
        <p:nvSpPr>
          <p:cNvPr id="7" name="Shape 4"/>
          <p:cNvSpPr/>
          <p:nvPr/>
        </p:nvSpPr>
        <p:spPr>
          <a:xfrm>
            <a:off x="793790" y="5716548"/>
            <a:ext cx="396835" cy="396835"/>
          </a:xfrm>
          <a:prstGeom prst="roundRect">
            <a:avLst>
              <a:gd name="adj" fmla="val 24007"/>
            </a:avLst>
          </a:prstGeom>
          <a:solidFill>
            <a:srgbClr val="283157"/>
          </a:solidFill>
          <a:ln w="7620">
            <a:solidFill>
              <a:srgbClr val="414A70"/>
            </a:solidFill>
            <a:prstDash val="solid"/>
          </a:ln>
        </p:spPr>
      </p:sp>
      <p:sp>
        <p:nvSpPr>
          <p:cNvPr id="8" name="Text 5"/>
          <p:cNvSpPr/>
          <p:nvPr/>
        </p:nvSpPr>
        <p:spPr>
          <a:xfrm>
            <a:off x="1417439" y="5716548"/>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Feature Engineering</a:t>
            </a:r>
            <a:endParaRPr lang="en-US" sz="2200" dirty="0"/>
          </a:p>
        </p:txBody>
      </p:sp>
      <p:sp>
        <p:nvSpPr>
          <p:cNvPr id="9" name="Text 6"/>
          <p:cNvSpPr/>
          <p:nvPr/>
        </p:nvSpPr>
        <p:spPr>
          <a:xfrm>
            <a:off x="1417439" y="6206966"/>
            <a:ext cx="6932771"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Transforming raw data into meaningful features for model training.</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366962"/>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Recurrent Neural Networks (RNN) for Churn Prediction: Methodology &amp; Results</a:t>
            </a:r>
            <a:endParaRPr lang="en-US" sz="4450" dirty="0"/>
          </a:p>
        </p:txBody>
      </p:sp>
      <p:sp>
        <p:nvSpPr>
          <p:cNvPr id="3" name="Text 1"/>
          <p:cNvSpPr/>
          <p:nvPr/>
        </p:nvSpPr>
        <p:spPr>
          <a:xfrm>
            <a:off x="793790" y="4351496"/>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Methodology</a:t>
            </a:r>
            <a:endParaRPr lang="en-US" sz="2200" dirty="0"/>
          </a:p>
        </p:txBody>
      </p:sp>
      <p:sp>
        <p:nvSpPr>
          <p:cNvPr id="4" name="Text 2"/>
          <p:cNvSpPr/>
          <p:nvPr/>
        </p:nvSpPr>
        <p:spPr>
          <a:xfrm>
            <a:off x="793790" y="4932640"/>
            <a:ext cx="6244709"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RNNs excel at capturing sequential patterns in time series data, which is useful for predicting churn.</a:t>
            </a:r>
            <a:endParaRPr lang="en-US" sz="1750" dirty="0"/>
          </a:p>
        </p:txBody>
      </p:sp>
      <p:sp>
        <p:nvSpPr>
          <p:cNvPr id="5" name="Text 3"/>
          <p:cNvSpPr/>
          <p:nvPr/>
        </p:nvSpPr>
        <p:spPr>
          <a:xfrm>
            <a:off x="7599521" y="4351496"/>
            <a:ext cx="2835235" cy="354330"/>
          </a:xfrm>
          <a:prstGeom prst="rect">
            <a:avLst/>
          </a:prstGeom>
          <a:noFill/>
          <a:ln/>
        </p:spPr>
        <p:txBody>
          <a:bodyPr wrap="none" lIns="0" tIns="0" rIns="0" bIns="0" rtlCol="0" anchor="t"/>
          <a:lstStyle/>
          <a:p>
            <a:pPr indent="0" marL="0">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Results</a:t>
            </a:r>
            <a:endParaRPr lang="en-US" sz="2200" dirty="0"/>
          </a:p>
        </p:txBody>
      </p:sp>
      <p:sp>
        <p:nvSpPr>
          <p:cNvPr id="6" name="Text 4"/>
          <p:cNvSpPr/>
          <p:nvPr/>
        </p:nvSpPr>
        <p:spPr>
          <a:xfrm>
            <a:off x="7599521" y="4932640"/>
            <a:ext cx="6244709"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The model achieved high accuracy in predicting customer churn, identifying early warning signs.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629501"/>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Artificial Neural Networks (ANN) for Credit Card Allowance: Methodology &amp; Results</a:t>
            </a:r>
            <a:endParaRPr lang="en-US" sz="4450" dirty="0"/>
          </a:p>
        </p:txBody>
      </p:sp>
      <p:sp>
        <p:nvSpPr>
          <p:cNvPr id="4" name="Shape 1"/>
          <p:cNvSpPr/>
          <p:nvPr/>
        </p:nvSpPr>
        <p:spPr>
          <a:xfrm>
            <a:off x="793790" y="5387221"/>
            <a:ext cx="6408063" cy="2047994"/>
          </a:xfrm>
          <a:prstGeom prst="roundRect">
            <a:avLst>
              <a:gd name="adj" fmla="val 4652"/>
            </a:avLst>
          </a:prstGeom>
          <a:solidFill>
            <a:srgbClr val="283157"/>
          </a:solidFill>
          <a:ln w="7620">
            <a:solidFill>
              <a:srgbClr val="414A70"/>
            </a:solidFill>
            <a:prstDash val="solid"/>
          </a:ln>
        </p:spPr>
      </p:sp>
      <p:sp>
        <p:nvSpPr>
          <p:cNvPr id="5" name="Text 2"/>
          <p:cNvSpPr/>
          <p:nvPr/>
        </p:nvSpPr>
        <p:spPr>
          <a:xfrm>
            <a:off x="1028224" y="562165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Methodology</a:t>
            </a:r>
            <a:endParaRPr lang="en-US" sz="2200" dirty="0"/>
          </a:p>
        </p:txBody>
      </p:sp>
      <p:sp>
        <p:nvSpPr>
          <p:cNvPr id="6" name="Text 3"/>
          <p:cNvSpPr/>
          <p:nvPr/>
        </p:nvSpPr>
        <p:spPr>
          <a:xfrm>
            <a:off x="1028224" y="6112073"/>
            <a:ext cx="5939195" cy="72580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ANNs can be trained to learn complex relationships between features and creditworthiness.</a:t>
            </a:r>
            <a:endParaRPr lang="en-US" sz="1750" dirty="0"/>
          </a:p>
        </p:txBody>
      </p:sp>
      <p:sp>
        <p:nvSpPr>
          <p:cNvPr id="7" name="Shape 4"/>
          <p:cNvSpPr/>
          <p:nvPr/>
        </p:nvSpPr>
        <p:spPr>
          <a:xfrm>
            <a:off x="7428667" y="5387221"/>
            <a:ext cx="6408063" cy="2047994"/>
          </a:xfrm>
          <a:prstGeom prst="roundRect">
            <a:avLst>
              <a:gd name="adj" fmla="val 4652"/>
            </a:avLst>
          </a:prstGeom>
          <a:solidFill>
            <a:srgbClr val="283157"/>
          </a:solidFill>
          <a:ln w="7620">
            <a:solidFill>
              <a:srgbClr val="414A70"/>
            </a:solidFill>
            <a:prstDash val="solid"/>
          </a:ln>
        </p:spPr>
      </p:sp>
      <p:sp>
        <p:nvSpPr>
          <p:cNvPr id="8" name="Text 5"/>
          <p:cNvSpPr/>
          <p:nvPr/>
        </p:nvSpPr>
        <p:spPr>
          <a:xfrm>
            <a:off x="7663101" y="562165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Results</a:t>
            </a:r>
            <a:endParaRPr lang="en-US" sz="2200" dirty="0"/>
          </a:p>
        </p:txBody>
      </p:sp>
      <p:sp>
        <p:nvSpPr>
          <p:cNvPr id="9" name="Text 6"/>
          <p:cNvSpPr/>
          <p:nvPr/>
        </p:nvSpPr>
        <p:spPr>
          <a:xfrm>
            <a:off x="7663101" y="6112073"/>
            <a:ext cx="5939195" cy="1088708"/>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The ANN model effectively determined optimal credit card allowances for individual customers based on their risk profiles.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90562"/>
          </a:xfrm>
          <a:prstGeom prst="rect">
            <a:avLst/>
          </a:prstGeom>
        </p:spPr>
      </p:pic>
      <p:sp>
        <p:nvSpPr>
          <p:cNvPr id="3" name="Text 0"/>
          <p:cNvSpPr/>
          <p:nvPr/>
        </p:nvSpPr>
        <p:spPr>
          <a:xfrm>
            <a:off x="725329" y="3211949"/>
            <a:ext cx="13179743" cy="1295400"/>
          </a:xfrm>
          <a:prstGeom prst="rect">
            <a:avLst/>
          </a:prstGeom>
          <a:noFill/>
          <a:ln/>
        </p:spPr>
        <p:txBody>
          <a:bodyPr wrap="square" lIns="0" tIns="0" rIns="0" bIns="0" rtlCol="0" anchor="t"/>
          <a:lstStyle/>
          <a:p>
            <a:pPr indent="0" marL="0">
              <a:lnSpc>
                <a:spcPts val="5050"/>
              </a:lnSpc>
              <a:buNone/>
            </a:pPr>
            <a:r>
              <a:rPr lang="en-US" sz="4050" dirty="0">
                <a:solidFill>
                  <a:srgbClr val="FFFFFF"/>
                </a:solidFill>
                <a:latin typeface="Fraunces Medium" pitchFamily="34" charset="0"/>
                <a:ea typeface="Fraunces Medium" pitchFamily="34" charset="-122"/>
                <a:cs typeface="Fraunces Medium" pitchFamily="34" charset="-120"/>
              </a:rPr>
              <a:t>Model Evaluation &amp; Comparison: RNN vs. ANN Performance</a:t>
            </a:r>
            <a:endParaRPr lang="en-US" sz="4050" dirty="0"/>
          </a:p>
        </p:txBody>
      </p:sp>
      <p:sp>
        <p:nvSpPr>
          <p:cNvPr id="4" name="Shape 1"/>
          <p:cNvSpPr/>
          <p:nvPr/>
        </p:nvSpPr>
        <p:spPr>
          <a:xfrm>
            <a:off x="7303770" y="4818221"/>
            <a:ext cx="22860" cy="2789873"/>
          </a:xfrm>
          <a:prstGeom prst="roundRect">
            <a:avLst>
              <a:gd name="adj" fmla="val 380782"/>
            </a:avLst>
          </a:prstGeom>
          <a:solidFill>
            <a:srgbClr val="414A70"/>
          </a:solidFill>
          <a:ln/>
        </p:spPr>
      </p:sp>
      <p:sp>
        <p:nvSpPr>
          <p:cNvPr id="5" name="Shape 2"/>
          <p:cNvSpPr/>
          <p:nvPr/>
        </p:nvSpPr>
        <p:spPr>
          <a:xfrm>
            <a:off x="6379607" y="5273040"/>
            <a:ext cx="725329" cy="22860"/>
          </a:xfrm>
          <a:prstGeom prst="roundRect">
            <a:avLst>
              <a:gd name="adj" fmla="val 380782"/>
            </a:avLst>
          </a:prstGeom>
          <a:solidFill>
            <a:srgbClr val="414A70"/>
          </a:solidFill>
          <a:ln/>
        </p:spPr>
      </p:sp>
      <p:sp>
        <p:nvSpPr>
          <p:cNvPr id="6" name="Shape 3"/>
          <p:cNvSpPr/>
          <p:nvPr/>
        </p:nvSpPr>
        <p:spPr>
          <a:xfrm>
            <a:off x="7082076" y="5051346"/>
            <a:ext cx="466249" cy="466249"/>
          </a:xfrm>
          <a:prstGeom prst="roundRect">
            <a:avLst>
              <a:gd name="adj" fmla="val 18670"/>
            </a:avLst>
          </a:prstGeom>
          <a:solidFill>
            <a:srgbClr val="283157"/>
          </a:solidFill>
          <a:ln w="7620">
            <a:solidFill>
              <a:srgbClr val="414A70"/>
            </a:solidFill>
            <a:prstDash val="solid"/>
          </a:ln>
        </p:spPr>
      </p:sp>
      <p:sp>
        <p:nvSpPr>
          <p:cNvPr id="7" name="Text 4"/>
          <p:cNvSpPr/>
          <p:nvPr/>
        </p:nvSpPr>
        <p:spPr>
          <a:xfrm>
            <a:off x="7243882" y="5128974"/>
            <a:ext cx="142518" cy="310872"/>
          </a:xfrm>
          <a:prstGeom prst="rect">
            <a:avLst/>
          </a:prstGeom>
          <a:noFill/>
          <a:ln/>
        </p:spPr>
        <p:txBody>
          <a:bodyPr wrap="none" lIns="0" tIns="0" rIns="0" bIns="0" rtlCol="0" anchor="t"/>
          <a:lstStyle/>
          <a:p>
            <a:pPr algn="ctr" indent="0" marL="0">
              <a:lnSpc>
                <a:spcPts val="2400"/>
              </a:lnSpc>
              <a:buNone/>
            </a:pPr>
            <a:r>
              <a:rPr lang="en-US" sz="2400" dirty="0">
                <a:solidFill>
                  <a:srgbClr val="EBECEF"/>
                </a:solidFill>
                <a:latin typeface="Fraunces Medium" pitchFamily="34" charset="0"/>
                <a:ea typeface="Fraunces Medium" pitchFamily="34" charset="-122"/>
                <a:cs typeface="Fraunces Medium" pitchFamily="34" charset="-120"/>
              </a:rPr>
              <a:t>1</a:t>
            </a:r>
            <a:endParaRPr lang="en-US" sz="2400" dirty="0"/>
          </a:p>
        </p:txBody>
      </p:sp>
      <p:sp>
        <p:nvSpPr>
          <p:cNvPr id="8" name="Text 5"/>
          <p:cNvSpPr/>
          <p:nvPr/>
        </p:nvSpPr>
        <p:spPr>
          <a:xfrm>
            <a:off x="3584853" y="5025390"/>
            <a:ext cx="2590562" cy="323850"/>
          </a:xfrm>
          <a:prstGeom prst="rect">
            <a:avLst/>
          </a:prstGeom>
          <a:noFill/>
          <a:ln/>
        </p:spPr>
        <p:txBody>
          <a:bodyPr wrap="none" lIns="0" tIns="0" rIns="0" bIns="0" rtlCol="0" anchor="t"/>
          <a:lstStyle/>
          <a:p>
            <a:pPr algn="r"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RNN</a:t>
            </a:r>
            <a:endParaRPr lang="en-US" sz="2000" dirty="0"/>
          </a:p>
        </p:txBody>
      </p:sp>
      <p:sp>
        <p:nvSpPr>
          <p:cNvPr id="9" name="Text 6"/>
          <p:cNvSpPr/>
          <p:nvPr/>
        </p:nvSpPr>
        <p:spPr>
          <a:xfrm>
            <a:off x="725329" y="5473541"/>
            <a:ext cx="5450086" cy="994767"/>
          </a:xfrm>
          <a:prstGeom prst="rect">
            <a:avLst/>
          </a:prstGeom>
          <a:noFill/>
          <a:ln/>
        </p:spPr>
        <p:txBody>
          <a:bodyPr wrap="square" lIns="0" tIns="0" rIns="0" bIns="0" rtlCol="0" anchor="t"/>
          <a:lstStyle/>
          <a:p>
            <a:pPr algn="r" indent="0" marL="0">
              <a:lnSpc>
                <a:spcPts val="2600"/>
              </a:lnSpc>
              <a:buNone/>
            </a:pPr>
            <a:r>
              <a:rPr lang="en-US" sz="1600" dirty="0">
                <a:solidFill>
                  <a:srgbClr val="EBECEF"/>
                </a:solidFill>
                <a:latin typeface="Epilogue" pitchFamily="34" charset="0"/>
                <a:ea typeface="Epilogue" pitchFamily="34" charset="-122"/>
                <a:cs typeface="Epilogue" pitchFamily="34" charset="-120"/>
              </a:rPr>
              <a:t>Achieved high accuracy in churn prediction, demonstrating its strength in capturing temporal patterns.</a:t>
            </a:r>
            <a:endParaRPr lang="en-US" sz="1600" dirty="0"/>
          </a:p>
        </p:txBody>
      </p:sp>
      <p:sp>
        <p:nvSpPr>
          <p:cNvPr id="10" name="Shape 7"/>
          <p:cNvSpPr/>
          <p:nvPr/>
        </p:nvSpPr>
        <p:spPr>
          <a:xfrm>
            <a:off x="7525464" y="6309122"/>
            <a:ext cx="725329" cy="22860"/>
          </a:xfrm>
          <a:prstGeom prst="roundRect">
            <a:avLst>
              <a:gd name="adj" fmla="val 380782"/>
            </a:avLst>
          </a:prstGeom>
          <a:solidFill>
            <a:srgbClr val="414A70"/>
          </a:solidFill>
          <a:ln/>
        </p:spPr>
      </p:sp>
      <p:sp>
        <p:nvSpPr>
          <p:cNvPr id="11" name="Shape 8"/>
          <p:cNvSpPr/>
          <p:nvPr/>
        </p:nvSpPr>
        <p:spPr>
          <a:xfrm>
            <a:off x="7082076" y="6087428"/>
            <a:ext cx="466249" cy="466249"/>
          </a:xfrm>
          <a:prstGeom prst="roundRect">
            <a:avLst>
              <a:gd name="adj" fmla="val 18670"/>
            </a:avLst>
          </a:prstGeom>
          <a:solidFill>
            <a:srgbClr val="283157"/>
          </a:solidFill>
          <a:ln w="7620">
            <a:solidFill>
              <a:srgbClr val="414A70"/>
            </a:solidFill>
            <a:prstDash val="solid"/>
          </a:ln>
        </p:spPr>
      </p:sp>
      <p:sp>
        <p:nvSpPr>
          <p:cNvPr id="12" name="Text 9"/>
          <p:cNvSpPr/>
          <p:nvPr/>
        </p:nvSpPr>
        <p:spPr>
          <a:xfrm>
            <a:off x="7221022" y="6165056"/>
            <a:ext cx="188357" cy="310872"/>
          </a:xfrm>
          <a:prstGeom prst="rect">
            <a:avLst/>
          </a:prstGeom>
          <a:noFill/>
          <a:ln/>
        </p:spPr>
        <p:txBody>
          <a:bodyPr wrap="none" lIns="0" tIns="0" rIns="0" bIns="0" rtlCol="0" anchor="t"/>
          <a:lstStyle/>
          <a:p>
            <a:pPr algn="ctr" indent="0" marL="0">
              <a:lnSpc>
                <a:spcPts val="2400"/>
              </a:lnSpc>
              <a:buNone/>
            </a:pPr>
            <a:r>
              <a:rPr lang="en-US" sz="2400" dirty="0">
                <a:solidFill>
                  <a:srgbClr val="EBECEF"/>
                </a:solidFill>
                <a:latin typeface="Fraunces Medium" pitchFamily="34" charset="0"/>
                <a:ea typeface="Fraunces Medium" pitchFamily="34" charset="-122"/>
                <a:cs typeface="Fraunces Medium" pitchFamily="34" charset="-120"/>
              </a:rPr>
              <a:t>2</a:t>
            </a:r>
            <a:endParaRPr lang="en-US" sz="2400" dirty="0"/>
          </a:p>
        </p:txBody>
      </p:sp>
      <p:sp>
        <p:nvSpPr>
          <p:cNvPr id="13" name="Text 10"/>
          <p:cNvSpPr/>
          <p:nvPr/>
        </p:nvSpPr>
        <p:spPr>
          <a:xfrm>
            <a:off x="8454985" y="6061472"/>
            <a:ext cx="2590562" cy="323850"/>
          </a:xfrm>
          <a:prstGeom prst="rect">
            <a:avLst/>
          </a:prstGeom>
          <a:noFill/>
          <a:ln/>
        </p:spPr>
        <p:txBody>
          <a:bodyPr wrap="none" lIns="0" tIns="0" rIns="0" bIns="0" rtlCol="0" anchor="t"/>
          <a:lstStyle/>
          <a:p>
            <a:pPr algn="l"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ANN</a:t>
            </a:r>
            <a:endParaRPr lang="en-US" sz="2000" dirty="0"/>
          </a:p>
        </p:txBody>
      </p:sp>
      <p:sp>
        <p:nvSpPr>
          <p:cNvPr id="14" name="Text 11"/>
          <p:cNvSpPr/>
          <p:nvPr/>
        </p:nvSpPr>
        <p:spPr>
          <a:xfrm>
            <a:off x="8454985" y="6509623"/>
            <a:ext cx="5450086" cy="663178"/>
          </a:xfrm>
          <a:prstGeom prst="rect">
            <a:avLst/>
          </a:prstGeom>
          <a:noFill/>
          <a:ln/>
        </p:spPr>
        <p:txBody>
          <a:bodyPr wrap="square" lIns="0" tIns="0" rIns="0" bIns="0" rtlCol="0" anchor="t"/>
          <a:lstStyle/>
          <a:p>
            <a:pPr algn="l" indent="0" marL="0">
              <a:lnSpc>
                <a:spcPts val="2600"/>
              </a:lnSpc>
              <a:buNone/>
            </a:pPr>
            <a:r>
              <a:rPr lang="en-US" sz="1600" dirty="0">
                <a:solidFill>
                  <a:srgbClr val="EBECEF"/>
                </a:solidFill>
                <a:latin typeface="Epilogue" pitchFamily="34" charset="0"/>
                <a:ea typeface="Epilogue" pitchFamily="34" charset="-122"/>
                <a:cs typeface="Epilogue" pitchFamily="34" charset="-120"/>
              </a:rPr>
              <a:t>Performed well in credit card allowance optimization, highlighting its ability to learn complex relationships.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57250"/>
            <a:ext cx="7556421" cy="2835116"/>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Business Implications &amp; Actionable Insights: Reducing Churn &amp; Optimizing Credit</a:t>
            </a:r>
            <a:endParaRPr lang="en-US" sz="4450" dirty="0"/>
          </a:p>
        </p:txBody>
      </p:sp>
      <p:pic>
        <p:nvPicPr>
          <p:cNvPr id="4" name="Image 1" descr="preencoded.png">    </p:cNvPr>
          <p:cNvPicPr>
            <a:picLocks noChangeAspect="1"/>
          </p:cNvPicPr>
          <p:nvPr/>
        </p:nvPicPr>
        <p:blipFill>
          <a:blip r:embed="rId2"/>
          <a:stretch>
            <a:fillRect/>
          </a:stretch>
        </p:blipFill>
        <p:spPr>
          <a:xfrm>
            <a:off x="793790" y="4032528"/>
            <a:ext cx="1134070" cy="1669852"/>
          </a:xfrm>
          <a:prstGeom prst="rect">
            <a:avLst/>
          </a:prstGeom>
        </p:spPr>
      </p:pic>
      <p:sp>
        <p:nvSpPr>
          <p:cNvPr id="5" name="Text 1"/>
          <p:cNvSpPr/>
          <p:nvPr/>
        </p:nvSpPr>
        <p:spPr>
          <a:xfrm>
            <a:off x="2268022" y="425934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Churn Reduction</a:t>
            </a:r>
            <a:endParaRPr lang="en-US" sz="2200" dirty="0"/>
          </a:p>
        </p:txBody>
      </p:sp>
      <p:sp>
        <p:nvSpPr>
          <p:cNvPr id="6" name="Text 2"/>
          <p:cNvSpPr/>
          <p:nvPr/>
        </p:nvSpPr>
        <p:spPr>
          <a:xfrm>
            <a:off x="2268022" y="4749760"/>
            <a:ext cx="6082189" cy="725805"/>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Proactive customer engagement strategies based on churn risk scores.</a:t>
            </a:r>
            <a:endParaRPr lang="en-US" sz="1750" dirty="0"/>
          </a:p>
        </p:txBody>
      </p:sp>
      <p:pic>
        <p:nvPicPr>
          <p:cNvPr id="7" name="Image 2" descr="preencoded.png">    </p:cNvPr>
          <p:cNvPicPr>
            <a:picLocks noChangeAspect="1"/>
          </p:cNvPicPr>
          <p:nvPr/>
        </p:nvPicPr>
        <p:blipFill>
          <a:blip r:embed="rId3"/>
          <a:stretch>
            <a:fillRect/>
          </a:stretch>
        </p:blipFill>
        <p:spPr>
          <a:xfrm>
            <a:off x="793790" y="5702379"/>
            <a:ext cx="1134070" cy="1669852"/>
          </a:xfrm>
          <a:prstGeom prst="rect">
            <a:avLst/>
          </a:prstGeom>
        </p:spPr>
      </p:pic>
      <p:sp>
        <p:nvSpPr>
          <p:cNvPr id="8" name="Text 3"/>
          <p:cNvSpPr/>
          <p:nvPr/>
        </p:nvSpPr>
        <p:spPr>
          <a:xfrm>
            <a:off x="2268022" y="592919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Credit Optimization</a:t>
            </a:r>
            <a:endParaRPr lang="en-US" sz="2200" dirty="0"/>
          </a:p>
        </p:txBody>
      </p:sp>
      <p:sp>
        <p:nvSpPr>
          <p:cNvPr id="9" name="Text 4"/>
          <p:cNvSpPr/>
          <p:nvPr/>
        </p:nvSpPr>
        <p:spPr>
          <a:xfrm>
            <a:off x="2268022" y="6419612"/>
            <a:ext cx="6082189" cy="725805"/>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Personalized credit card allowances and strategies based on individual risk profiles.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38394"/>
            <a:ext cx="7556421" cy="2835116"/>
          </a:xfrm>
          <a:prstGeom prst="rect">
            <a:avLst/>
          </a:prstGeom>
          <a:noFill/>
          <a:ln/>
        </p:spPr>
        <p:txBody>
          <a:bodyPr wrap="square" lIns="0" tIns="0" rIns="0" bIns="0" rtlCol="0" anchor="t"/>
          <a:lstStyle/>
          <a:p>
            <a:pPr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Conclusion &amp; Future Work: Opportunities for Improvement and Expansion</a:t>
            </a:r>
            <a:endParaRPr lang="en-US" sz="4450" dirty="0"/>
          </a:p>
        </p:txBody>
      </p:sp>
      <p:sp>
        <p:nvSpPr>
          <p:cNvPr id="4" name="Text 1"/>
          <p:cNvSpPr/>
          <p:nvPr/>
        </p:nvSpPr>
        <p:spPr>
          <a:xfrm>
            <a:off x="6280190" y="4613672"/>
            <a:ext cx="7556421" cy="2177415"/>
          </a:xfrm>
          <a:prstGeom prst="rect">
            <a:avLst/>
          </a:prstGeom>
          <a:noFill/>
          <a:ln/>
        </p:spPr>
        <p:txBody>
          <a:bodyPr wrap="square" lIns="0" tIns="0" rIns="0" bIns="0" rtlCol="0" anchor="t"/>
          <a:lstStyle/>
          <a:p>
            <a:pPr indent="0" marL="0">
              <a:lnSpc>
                <a:spcPts val="2850"/>
              </a:lnSpc>
              <a:buNone/>
            </a:pPr>
            <a:r>
              <a:rPr lang="en-US" sz="1750" dirty="0">
                <a:solidFill>
                  <a:srgbClr val="EBECEF"/>
                </a:solidFill>
                <a:latin typeface="Epilogue" pitchFamily="34" charset="0"/>
                <a:ea typeface="Epilogue" pitchFamily="34" charset="-122"/>
                <a:cs typeface="Epilogue" pitchFamily="34" charset="-120"/>
              </a:rPr>
              <a:t>The project successfully addressed the challenges of bank churn and credit risk, delivering valuable insights for improving customer retention and credit management. Future work can focus on integrating these models into real-time decision-making systems for enhanced customer experience and improved risk management.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2025-02-10T09:03:44Z</dcterms:created>
  <dcterms:modified xsi:type="dcterms:W3CDTF">2025-02-10T09:03:44Z</dcterms:modified>
</cp:coreProperties>
</file>